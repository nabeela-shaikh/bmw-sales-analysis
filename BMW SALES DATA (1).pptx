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65" r:id="rId3"/>
    <p:sldId id="263" r:id="rId4"/>
    <p:sldId id="267" r:id="rId5"/>
    <p:sldId id="257" r:id="rId6"/>
    <p:sldId id="262" r:id="rId7"/>
    <p:sldId id="268" r:id="rId8"/>
    <p:sldId id="269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1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85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45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33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5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66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58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30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72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45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5179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39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3592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458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681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81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2FAFF-1136-4270-B0F2-4C91CECD0E36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61328D5-F588-482D-BEEC-B88CDF2E8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4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2025 BMW Cars Lineup: A New M5, 2 Series Gran Coupe, and Many More Updates">
            <a:extLst>
              <a:ext uri="{FF2B5EF4-FFF2-40B4-BE49-F238E27FC236}">
                <a16:creationId xmlns:a16="http://schemas.microsoft.com/office/drawing/2014/main" id="{DA4A5026-9294-0042-0241-A7EA74914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883" y="1726870"/>
            <a:ext cx="10098917" cy="497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4DDF8-6ADD-1B8B-307D-1E01B28350FE}"/>
              </a:ext>
            </a:extLst>
          </p:cNvPr>
          <p:cNvSpPr txBox="1"/>
          <p:nvPr/>
        </p:nvSpPr>
        <p:spPr>
          <a:xfrm>
            <a:off x="3423920" y="554931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BMW SALES DATA</a:t>
            </a:r>
          </a:p>
          <a:p>
            <a:r>
              <a:rPr lang="en-IN" sz="1800" b="1" dirty="0">
                <a:solidFill>
                  <a:schemeClr val="accent1"/>
                </a:solidFill>
              </a:rPr>
              <a:t>BY NABILASHAIKH</a:t>
            </a:r>
          </a:p>
        </p:txBody>
      </p:sp>
    </p:spTree>
    <p:extLst>
      <p:ext uri="{BB962C8B-B14F-4D97-AF65-F5344CB8AC3E}">
        <p14:creationId xmlns:p14="http://schemas.microsoft.com/office/powerpoint/2010/main" val="155060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9C1FB6-EAB9-DA66-7372-6FB2804F0AD5}"/>
              </a:ext>
            </a:extLst>
          </p:cNvPr>
          <p:cNvSpPr txBox="1"/>
          <p:nvPr/>
        </p:nvSpPr>
        <p:spPr>
          <a:xfrm>
            <a:off x="3441290" y="970453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/>
              <a:t>About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2"/>
                </a:solidFill>
              </a:rPr>
              <a:t>Total 50,000 rows and 11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2"/>
                </a:solidFill>
              </a:rPr>
              <a:t>categorical column are 5,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2"/>
                </a:solidFill>
              </a:rPr>
              <a:t>numerical column are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2"/>
                </a:solidFill>
              </a:rPr>
              <a:t>Geographical column 1.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2400" b="1" dirty="0"/>
              <a:t>objective</a:t>
            </a:r>
          </a:p>
          <a:p>
            <a:r>
              <a:rPr lang="en-IN" sz="3200" dirty="0">
                <a:solidFill>
                  <a:schemeClr val="tx2"/>
                </a:solidFill>
              </a:rPr>
              <a:t>Objective to know about which model has highest sales.</a:t>
            </a:r>
          </a:p>
        </p:txBody>
      </p:sp>
    </p:spTree>
    <p:extLst>
      <p:ext uri="{BB962C8B-B14F-4D97-AF65-F5344CB8AC3E}">
        <p14:creationId xmlns:p14="http://schemas.microsoft.com/office/powerpoint/2010/main" val="321829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A202B-BD86-DC9D-683C-24FA8C923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568" y="1706731"/>
            <a:ext cx="5867908" cy="3444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AEDAAA-7F91-9C20-C756-3A4AB72EC770}"/>
              </a:ext>
            </a:extLst>
          </p:cNvPr>
          <p:cNvSpPr txBox="1"/>
          <p:nvPr/>
        </p:nvSpPr>
        <p:spPr>
          <a:xfrm>
            <a:off x="4719484" y="10148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univariant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E9AF2-0A71-9226-9615-B4F0038F6633}"/>
              </a:ext>
            </a:extLst>
          </p:cNvPr>
          <p:cNvSpPr txBox="1"/>
          <p:nvPr/>
        </p:nvSpPr>
        <p:spPr>
          <a:xfrm>
            <a:off x="3244645" y="54811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white colour is the highest colour of model.</a:t>
            </a:r>
          </a:p>
        </p:txBody>
      </p:sp>
    </p:spTree>
    <p:extLst>
      <p:ext uri="{BB962C8B-B14F-4D97-AF65-F5344CB8AC3E}">
        <p14:creationId xmlns:p14="http://schemas.microsoft.com/office/powerpoint/2010/main" val="275327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FD7B4-B600-C94A-3C97-FBAC55430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873" y="1539076"/>
            <a:ext cx="6233700" cy="377984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ED485E-0466-6503-3F59-5E90A4329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98550"/>
              </p:ext>
            </p:extLst>
          </p:nvPr>
        </p:nvGraphicFramePr>
        <p:xfrm>
          <a:off x="1091382" y="1700980"/>
          <a:ext cx="4168876" cy="3480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8786">
                  <a:extLst>
                    <a:ext uri="{9D8B030D-6E8A-4147-A177-3AD203B41FA5}">
                      <a16:colId xmlns:a16="http://schemas.microsoft.com/office/drawing/2014/main" val="4227759322"/>
                    </a:ext>
                  </a:extLst>
                </a:gridCol>
                <a:gridCol w="1389625">
                  <a:extLst>
                    <a:ext uri="{9D8B030D-6E8A-4147-A177-3AD203B41FA5}">
                      <a16:colId xmlns:a16="http://schemas.microsoft.com/office/drawing/2014/main" val="1786263441"/>
                    </a:ext>
                  </a:extLst>
                </a:gridCol>
                <a:gridCol w="1440465">
                  <a:extLst>
                    <a:ext uri="{9D8B030D-6E8A-4147-A177-3AD203B41FA5}">
                      <a16:colId xmlns:a16="http://schemas.microsoft.com/office/drawing/2014/main" val="4116142354"/>
                    </a:ext>
                  </a:extLst>
                </a:gridCol>
              </a:tblGrid>
              <a:tr h="6055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Model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Year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 err="1">
                          <a:effectLst/>
                        </a:rPr>
                        <a:t>Price_USD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51219"/>
                  </a:ext>
                </a:extLst>
              </a:tr>
              <a:tr h="41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2016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98740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41762"/>
                  </a:ext>
                </a:extLst>
              </a:tr>
              <a:tr h="41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i8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2013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79219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969666"/>
                  </a:ext>
                </a:extLst>
              </a:tr>
              <a:tr h="41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2022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113265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77475"/>
                  </a:ext>
                </a:extLst>
              </a:tr>
              <a:tr h="41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X3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2024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60971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160012"/>
                  </a:ext>
                </a:extLst>
              </a:tr>
              <a:tr h="41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7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2020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49898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965780"/>
                  </a:ext>
                </a:extLst>
              </a:tr>
              <a:tr h="41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2017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42926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17771"/>
                  </a:ext>
                </a:extLst>
              </a:tr>
              <a:tr h="410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i8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2022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55064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3088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702A20-940D-657C-2B15-0AA751DBF460}"/>
              </a:ext>
            </a:extLst>
          </p:cNvPr>
          <p:cNvSpPr txBox="1"/>
          <p:nvPr/>
        </p:nvSpPr>
        <p:spPr>
          <a:xfrm>
            <a:off x="3254477" y="58140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In which year were the BMW prices the highest, and in which year were they the lowest?</a:t>
            </a:r>
          </a:p>
        </p:txBody>
      </p:sp>
    </p:spTree>
    <p:extLst>
      <p:ext uri="{BB962C8B-B14F-4D97-AF65-F5344CB8AC3E}">
        <p14:creationId xmlns:p14="http://schemas.microsoft.com/office/powerpoint/2010/main" val="228127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AE9BCB-549E-476B-50C8-0E0032847188}"/>
              </a:ext>
            </a:extLst>
          </p:cNvPr>
          <p:cNvSpPr txBox="1"/>
          <p:nvPr/>
        </p:nvSpPr>
        <p:spPr>
          <a:xfrm>
            <a:off x="3362632" y="5203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00325-9D07-01EB-6BA3-3258DAD88496}"/>
              </a:ext>
            </a:extLst>
          </p:cNvPr>
          <p:cNvSpPr txBox="1"/>
          <p:nvPr/>
        </p:nvSpPr>
        <p:spPr>
          <a:xfrm>
            <a:off x="3309113" y="7092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which model has the highest sales volume and in which region?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19D8D-74A8-111F-9DC4-6B6763F993A0}"/>
              </a:ext>
            </a:extLst>
          </p:cNvPr>
          <p:cNvSpPr txBox="1"/>
          <p:nvPr/>
        </p:nvSpPr>
        <p:spPr>
          <a:xfrm>
            <a:off x="314632" y="2531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multivariant analysis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04E784-F39A-BEB8-9651-7D3CC207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113" y="1774401"/>
            <a:ext cx="5075360" cy="3010161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02F8D7-5F5F-80D4-3C31-B8D9C47CD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415298"/>
              </p:ext>
            </p:extLst>
          </p:nvPr>
        </p:nvGraphicFramePr>
        <p:xfrm>
          <a:off x="973394" y="1774401"/>
          <a:ext cx="5132438" cy="31069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0776">
                  <a:extLst>
                    <a:ext uri="{9D8B030D-6E8A-4147-A177-3AD203B41FA5}">
                      <a16:colId xmlns:a16="http://schemas.microsoft.com/office/drawing/2014/main" val="3672902479"/>
                    </a:ext>
                  </a:extLst>
                </a:gridCol>
                <a:gridCol w="1850681">
                  <a:extLst>
                    <a:ext uri="{9D8B030D-6E8A-4147-A177-3AD203B41FA5}">
                      <a16:colId xmlns:a16="http://schemas.microsoft.com/office/drawing/2014/main" val="2161330750"/>
                    </a:ext>
                  </a:extLst>
                </a:gridCol>
                <a:gridCol w="1700981">
                  <a:extLst>
                    <a:ext uri="{9D8B030D-6E8A-4147-A177-3AD203B41FA5}">
                      <a16:colId xmlns:a16="http://schemas.microsoft.com/office/drawing/2014/main" val="2260971022"/>
                    </a:ext>
                  </a:extLst>
                </a:gridCol>
              </a:tblGrid>
              <a:tr h="374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Region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Sales_Volume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190155"/>
                  </a:ext>
                </a:extLst>
              </a:tr>
              <a:tr h="390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Asia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8300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085392"/>
                  </a:ext>
                </a:extLst>
              </a:tr>
              <a:tr h="390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i8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North America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3428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13618"/>
                  </a:ext>
                </a:extLst>
              </a:tr>
              <a:tr h="390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North America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6994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07826"/>
                  </a:ext>
                </a:extLst>
              </a:tr>
              <a:tr h="390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X3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Middle East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4047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206854"/>
                  </a:ext>
                </a:extLst>
              </a:tr>
              <a:tr h="390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7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South America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3080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10507"/>
                  </a:ext>
                </a:extLst>
              </a:tr>
              <a:tr h="390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Middle East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1232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19558"/>
                  </a:ext>
                </a:extLst>
              </a:tr>
              <a:tr h="3904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i8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Europe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7949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820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52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B2737-BC1E-0472-05EA-D859ACB45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704" y="1353842"/>
            <a:ext cx="6121606" cy="338979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D96F5B-79B5-FDC7-FC2B-9A03A7AB4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537879"/>
              </p:ext>
            </p:extLst>
          </p:nvPr>
        </p:nvGraphicFramePr>
        <p:xfrm>
          <a:off x="422787" y="1353842"/>
          <a:ext cx="5191432" cy="33897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5627">
                  <a:extLst>
                    <a:ext uri="{9D8B030D-6E8A-4147-A177-3AD203B41FA5}">
                      <a16:colId xmlns:a16="http://schemas.microsoft.com/office/drawing/2014/main" val="2852806831"/>
                    </a:ext>
                  </a:extLst>
                </a:gridCol>
                <a:gridCol w="1837171">
                  <a:extLst>
                    <a:ext uri="{9D8B030D-6E8A-4147-A177-3AD203B41FA5}">
                      <a16:colId xmlns:a16="http://schemas.microsoft.com/office/drawing/2014/main" val="2359017607"/>
                    </a:ext>
                  </a:extLst>
                </a:gridCol>
                <a:gridCol w="1748634">
                  <a:extLst>
                    <a:ext uri="{9D8B030D-6E8A-4147-A177-3AD203B41FA5}">
                      <a16:colId xmlns:a16="http://schemas.microsoft.com/office/drawing/2014/main" val="722999835"/>
                    </a:ext>
                  </a:extLst>
                </a:gridCol>
              </a:tblGrid>
              <a:tr h="4058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Model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 err="1">
                          <a:effectLst/>
                        </a:rPr>
                        <a:t>Engine_Size</a:t>
                      </a:r>
                      <a:r>
                        <a:rPr lang="en-IN" sz="1600" b="1" u="none" strike="noStrike" dirty="0">
                          <a:effectLst/>
                        </a:rPr>
                        <a:t> 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 err="1">
                          <a:effectLst/>
                        </a:rPr>
                        <a:t>Mileage_KM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238374"/>
                  </a:ext>
                </a:extLst>
              </a:tr>
              <a:tr h="426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3.5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1.52 L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163346"/>
                  </a:ext>
                </a:extLst>
              </a:tr>
              <a:tr h="426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i8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1.6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1.22L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579637"/>
                  </a:ext>
                </a:extLst>
              </a:tr>
              <a:tr h="426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4.5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0.11L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491457"/>
                  </a:ext>
                </a:extLst>
              </a:tr>
              <a:tr h="426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X3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1.7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0.27L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656048"/>
                  </a:ext>
                </a:extLst>
              </a:tr>
              <a:tr h="426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 Series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2.1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1.22L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148818"/>
                  </a:ext>
                </a:extLst>
              </a:tr>
              <a:tr h="426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5 Series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1.9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1.71L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819324"/>
                  </a:ext>
                </a:extLst>
              </a:tr>
              <a:tr h="426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i8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1.8</a:t>
                      </a:r>
                      <a:endParaRPr lang="en-IN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1.96L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6146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37D72A-BFC8-2B9C-0385-C45D70BC2C51}"/>
              </a:ext>
            </a:extLst>
          </p:cNvPr>
          <p:cNvSpPr txBox="1"/>
          <p:nvPr/>
        </p:nvSpPr>
        <p:spPr>
          <a:xfrm>
            <a:off x="3618271" y="559476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Does engine  size affect mileage for BMW Models ?</a:t>
            </a: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51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FB592-2CBB-A7B6-5A36-4F4B57C0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106" y="1352927"/>
            <a:ext cx="4805894" cy="444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2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DE26B-7396-DEE8-06DE-5A626DFD7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695" y="1447984"/>
            <a:ext cx="5616392" cy="396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1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72AABD-7754-F6C2-E41E-69E480747DDF}"/>
              </a:ext>
            </a:extLst>
          </p:cNvPr>
          <p:cNvSpPr txBox="1"/>
          <p:nvPr/>
        </p:nvSpPr>
        <p:spPr>
          <a:xfrm>
            <a:off x="1091381" y="806245"/>
            <a:ext cx="982242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IN" sz="3600" b="1" dirty="0"/>
              <a:t>BMW has profit in Aisa, North America, Europe due to highest sales .</a:t>
            </a:r>
          </a:p>
          <a:p>
            <a:r>
              <a:rPr lang="en-IN" sz="3600" b="1" dirty="0"/>
              <a:t>Less sale in middle east,</a:t>
            </a:r>
          </a:p>
          <a:p>
            <a:r>
              <a:rPr lang="en-IN" sz="3600" b="1" dirty="0"/>
              <a:t>So in simple words BMW is in profit by price and sales also. </a:t>
            </a:r>
          </a:p>
          <a:p>
            <a:endParaRPr lang="en-IN" sz="3600" b="1" dirty="0"/>
          </a:p>
          <a:p>
            <a:pPr algn="ctr"/>
            <a:r>
              <a:rPr lang="en-IN" sz="3600" b="1" dirty="0"/>
              <a:t>Thank you all of you for your attention 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97834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673</TotalTime>
  <Words>236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nabilashaikh14sarfaraz@gmail.com</dc:creator>
  <cp:lastModifiedBy>nabilashaikh14sarfaraz@gmail.com</cp:lastModifiedBy>
  <cp:revision>7</cp:revision>
  <dcterms:created xsi:type="dcterms:W3CDTF">2025-10-03T17:08:23Z</dcterms:created>
  <dcterms:modified xsi:type="dcterms:W3CDTF">2025-11-07T13:04:21Z</dcterms:modified>
</cp:coreProperties>
</file>